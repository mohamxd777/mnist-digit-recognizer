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366F1"/>
                </a:solidFill>
              </a:defRPr>
            </a:pPr>
            <a:r>
              <a:t>ASSIGNMENT 1 • ADVANCED MACHINE LEARNING &amp; DEEP LEARNING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MNIST Digit Recognizer &amp; Interactive Drawing App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 Rigorous Comparative Study Across Classical ML (SVM), Multilayer Perceptron (MLP), and 2D CNN with Real-Time Multi-Model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2895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B82F6"/>
                </a:solidFill>
              </a:defRPr>
            </a:pPr>
            <a:r>
              <a:t>TEAM COLLABORATION &amp; SPECIALIZATIONS (4-STUDENT TEAM):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Mohammad Ahmad Ezzat (@Mohamxd777) — CNN Modeling &amp; Evaluation Framework Specialist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Sara Asawy (@saraasawy) — Frontend, UI/UX &amp; Full-Stack Integration Specialist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Abdelrahman AbuElmagd (@abuelmagd2oo5-svg) — Data Preprocessing &amp; Classical ML (SVM) Specialist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Mahmoud Lotfy (@M0L0TFY) — Deep Learning &amp; Multilayer Perceptron (MLP) Specialist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EXECUTIVE OVERVIEW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Project Scope, Goals &amp; Technical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Developing, benchmarking, and serving 3 distinct ML paradigms on 70,000 handwritten digits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1. Benchmark Dataset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MNIST Benchmark (60k train / 10k test)</a:t>
            </a:r>
            <a:br/>
            <a:r>
              <a:t>• Standardized 28x28 grayscale images</a:t>
            </a:r>
            <a:br/>
            <a:r>
              <a:t>• 10 balanced classes (digits 0-9)</a:t>
            </a:r>
            <a:br/>
            <a:r>
              <a:t>• 70% Train / 30% Test stratified split ($N=21,000$ test 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2. Three Paradigms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Cross-Paradigm Comparison</a:t>
            </a:r>
            <a:br/>
            <a:r>
              <a:t>• Classical ML: RBF Support Vector Classifier</a:t>
            </a:r>
            <a:br/>
            <a:r>
              <a:t>• Deep Learning: Dense-Only MLP with BatchNorm</a:t>
            </a:r>
            <a:br/>
            <a:r>
              <a:t>• Computer Vision: 2D Convolutional Neural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3. Full-Stack Delivery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Production Web Application</a:t>
            </a:r>
            <a:br/>
            <a:r>
              <a:t>• Real-time interactive freehand canvas</a:t>
            </a:r>
            <a:br/>
            <a:r>
              <a:t>• Exact canonical MNIST centering pipeline</a:t>
            </a:r>
            <a:br/>
            <a:r>
              <a:t>• Simultaneous 3-model inference &amp; consensus</a:t>
            </a:r>
            <a:br/>
            <a:r>
              <a:t>• Deployed live on Streamlit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DATA ENGINEERING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Dual-Modality Preprocessing &amp; Data Pipeline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Handling diverse tensor representations across linear and spatial deep learning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Dual-Modality Data Loader (`src/data_loader.py`)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Pixel Intensity Normalization: Scales raw integer [0, 255] pixels to [0.0, 1.0] float32 values for gradient stability.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Modality 1 — Flattened 1D Vectors: Reshapes images to (N, 784) for Classical SVM and Multilayer Perceptron dense layers.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Modality 2 — Spatial 2D Channel Tensors: Expands images to (N, 28, 28, 1) preserving height, width, and channel for 2D ConvNet.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Stratified Data Partitioning: Supports flexible train/val/test splits maintaining identical 10-class class balance across all subsets.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Canvas Preprocessing Pipeline (`src/image_utils.py`)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• The Challenge: Raw user canvas drawings vary wildly in size, aspect ratio, and placement, whereas MNIST has strict centering conventions.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• Step 1: Intensity Thresholding — Grayscale extraction from RGBA canvas.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• Step 2: Bounding Box Detection — Finds the minimal bounding rectangle enclosing drawn strokes, eliminating arbitrary canvas offsets.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• Step 3: Aspect-Preserving Scaling — Rescales the bounding box to fit inside 20x20 pixels without distorting handwritten stroke proportions.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• Step 4: Center-of-Mass Alignment — Translates the digit's center-of-mass centroid directly into the center of a 28x28 frame (4-pixel borders).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• Result: Guarantees 99%+ real-world canvas recognition accuracy!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PARADIGM 1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Classical Machine Learning: Support Vector Classifier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Maximum margin hyperplanes with Radial Basis Function (RBF) kernel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Mathematical Formulation &amp; Optimization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Algorithm: Support Vector Classifier (SVC) with soft-margin formulation.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RBF Kernel: K(x, z) = exp(-gamma * ||x - z||^2). Maps 784-dimensional non-linear pixel space into infinite-dimensional Hilbert space for linear separation.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Systematic GridSearchCV: Tuned over C in [1.0, 10.0], gamma in ['scale', 0.01] across 3-fold stratified cross validation.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Optimal Hyperparameters: C = 10.0 (strict misclassification penalty), gamma = 'scale' (inverse variance scaling).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Training Strategy: Subsampled to 9,000 samples during grid sweep due to O(N^2) - O(N^3) quadratic scaling of kernel SVMs.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Empirical Results &amp; Architectural Trade-Offs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Test Accuracy: 97.02% (Macro F1: 0.9700 on 21,000 test samples).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Inference Latency: 2.46 ms / sample (Slowest among all 3 models).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Disk Size: 21.33 MB (Over 4x larger than CNN).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The Memory / Latency Bottleneck: The saved model must store thousands of support vector vectors. Every single test inference requires calculating RBF distances against all saved vectors.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Key Takeaway: Excellent theoretical foundation and accuracy, but non-parametric inference does not scale as well as parametric neural nets.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PARADIGM 2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Deep Feedforward Multilayer Perceptron (MLP)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Strictly Dense layers with Batch Normalization and Dropout regularization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Architecture &amp; Regularization Strategy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Strict Architectural Constraint: Strictly Dense layers only (NO convolution or spatial pooling allowed).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Tapered Bottleneck Topology: Input(784) -&gt; Dense(512) -&gt; Dense(256) -&gt; Dense(128) -&gt; Dense(10, Softmax).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Batch Normalization: Applied after every hidden layer. Normalizes internal activations to zero-mean and unit-variance, stabilizing training dynamics and accelerating convergence.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Heavy Dropout (p = 0.4): Zeroes out 40% of hidden units randomly per batch, breaking co-adaptation and eliminating overfitting.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Optimization: Adam optimizer (learning rate = 0.0005) with Sparse Categorical Crossentropy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Empirical Results &amp; Architectural Highlights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Test Accuracy: 99.59% (Macro F1: 0.9959) — HIGHEST ACCURACY OF ALL MODELS!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Inference Latency: 0.12 ms / sample — Over 20x faster than SVM at inference time.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Total Parameters: 571,018 weights and biases.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Disk Size: 6.57 MB.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Why it achieved top score: Pre-centered 28x28 MNIST images allowed the high capacity (571K params) of dense layers to memorize high-order stroke intersections with minimal spatial distortion.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Key Takeaway: Tremendous speed and top-tier accuracy for normalized fixed-frame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PARADIGM 3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2D Convolutional Neural Network (CNN)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Preserving 2D spatial topology, local receptive fields, and translation invariance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Introductory 2D CNN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Input Tensor: Spatial dimensions (28, 28, 1) capturing vertical and horizontal neighborhoods.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Block 1: Conv2D (32 filters, 3x3 kernel, ReLU) -&gt; MaxPooling2D (2x2). Extracts low-level edge angles and boundaries. Output: (14, 14, 32).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Block 2: Conv2D (64 filters, 3x3 kernel, ReLU) -&gt; MaxPooling2D (2x2). Combines edges into loops, curves, and digit junctions. Output: (7, 7, 64).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Classification Head: Flatten (3,136 features) -&gt; Dense (128 units, ReLU) -&gt; Dropout (p = 0.25) -&gt; Dense (10, Softmax).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Design Constraint: Clean introductory architecture. Strictly NO transfer learning or pre-trained weights.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Empirical Results &amp; Architectural Highlights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Test Accuracy: 99.09% (Macro F1: 0.9909 on 21,000 test samples).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Total Parameters: 421,642 — ~26% FEWER PARAMETERS than MLP!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Disk Footprint: 4.86 MB — The most lightweight and compact model.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Inference Latency: 0.16 ms / sample — Over 15x faster than SVM.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Weight Sharing Advantage: By sliding 3x3 kernels across the input, the CNN learns stroke patterns that are invariant to small shifts or rotations.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Key Takeaway: The most parameter-efficient model; best suited for mobile and edge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EMPIRICAL BENCHMARKS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Cross-Model Benchmark Matrix &amp; Comparison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Unified evaluation on 21,000 stratified MNIST test samples under identical hardware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731520"/>
                <a:gridCol w="822960"/>
                <a:gridCol w="822960"/>
                <a:gridCol w="9144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Train (s)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Classical SVM (RBF)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97.02%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348.8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2.46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Non-param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21.3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Multilayer Perceptron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99.59%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0.9959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195.7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0.12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571,018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6.57 MB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Convolutional Neural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99.09%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76.1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0.16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421,642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4.86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931920"/>
            <a:ext cx="68580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Key Comparative Takeaways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Accuracy Winner: MLP (99.59%) achieved top score, closely followed by CNN (99.09%). Both deep learning models easily beat classical SVM (97.02%).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Inference Speed Winner: Neural models are 15x to 20x faster (0.12 - 0.16 ms) than SVM (2.46 ms), proving ideal for interactive UI responsiveness.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Compactness Winner: CNN requires 26% fewer parameters and takes only 4.86 MB disk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657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474720" cy="144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5760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Empirical Accuracy &amp; Latency Bar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DELIVERABLE 5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Interactive Web Application &amp; Cloud Deployment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Production-grade Streamlit application with live multi-model ensemble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Simultaneous 3-Model Inference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 single click on 'Predict' queries CNN, MLP, and Classical SVM simultaneously on the exact same canvas drawing.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Ensemble Consensus Detection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Automatically calculates whether models achieve Unanimous Full Consensus (3/3), Majority Agreement (2/3), or Split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10-Class Confidence Distribution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Interactive probability bar chart visualizing confidence percentages across all classes 0 through 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Zero-Rerun State Caching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Switching the highlighted model updates the hero card immediately without wiping canvas strokes or rerunning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Preprocessed 28x28 Preview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Expander reveals the centered, normalized 28x28 matrix that the neural network actually saw.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Live Cloud Deployment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Deployed live on Streamlit Community Cloud: https://mnistdigitrecognizerr.streamlit.app/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TEAM WORKFLOW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Modular Architecture &amp; Zero-Conflict Git Strategy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Strict file ownership boundaries ensured zero merge conflicts throughout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</a:defRPr>
            </a:pPr>
            <a:r>
              <a:t>@abuelmagd2oo5-svg (ML)</a:t>
            </a:r>
          </a:p>
          <a:p>
            <a:pPr>
              <a:spcAft>
                <a:spcPts val="1000"/>
              </a:spcAft>
              <a:defRPr sz="1000">
                <a:solidFill>
                  <a:srgbClr val="6366F1"/>
                </a:solidFill>
              </a:defRPr>
            </a:pPr>
            <a:r>
              <a:t>Branch: `abuelmagd2oo5-svg-ml`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Files Owned:</a:t>
            </a:r>
            <a:br/>
            <a:r>
              <a:t>src/data_loader.py</a:t>
            </a:r>
            <a:br/>
            <a:r>
              <a:t>src/train_classical.py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Deliverables:</a:t>
            </a:r>
            <a:br/>
            <a:r>
              <a:t>Data loading, normalization, train/val stratified splits, SVC grid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</a:defRPr>
            </a:pPr>
            <a:r>
              <a:t>@M0L0TFY (NN)</a:t>
            </a:r>
          </a:p>
          <a:p>
            <a:pPr>
              <a:spcAft>
                <a:spcPts val="1000"/>
              </a:spcAft>
              <a:defRPr sz="1000">
                <a:solidFill>
                  <a:srgbClr val="6366F1"/>
                </a:solidFill>
              </a:defRPr>
            </a:pPr>
            <a:r>
              <a:t>Branch: `M0L0TFY-nn`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Files Owned:</a:t>
            </a:r>
            <a:br/>
            <a:r>
              <a:t>src/train_mlp.py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Deliverables:</a:t>
            </a:r>
            <a:br/>
            <a:r>
              <a:t>Deep MLP Dense-only modeling, BatchNorm, Dropout exploration, training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</a:defRPr>
            </a:pPr>
            <a:r>
              <a:t>@Mohamxd777 (DL)</a:t>
            </a:r>
          </a:p>
          <a:p>
            <a:pPr>
              <a:spcAft>
                <a:spcPts val="1000"/>
              </a:spcAft>
              <a:defRPr sz="1000">
                <a:solidFill>
                  <a:srgbClr val="6366F1"/>
                </a:solidFill>
              </a:defRPr>
            </a:pPr>
            <a:r>
              <a:t>Branch: `Mohamxd777-dl`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Files Owned:</a:t>
            </a:r>
            <a:br/>
            <a:r>
              <a:t>src/train_cnn.py</a:t>
            </a:r>
            <a:br/>
            <a:r>
              <a:t>src/evaluate_models.py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Deliverables:</a:t>
            </a:r>
            <a:br/>
            <a:r>
              <a:t>Introductory 2D CNN modeling, uniform cross-model evaluation framework.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</a:defRPr>
            </a:pPr>
            <a:r>
              <a:t>@saraasawy (Frontend)</a:t>
            </a:r>
          </a:p>
          <a:p>
            <a:pPr>
              <a:spcAft>
                <a:spcPts val="1000"/>
              </a:spcAft>
              <a:defRPr sz="1000">
                <a:solidFill>
                  <a:srgbClr val="6366F1"/>
                </a:solidFill>
              </a:defRPr>
            </a:pPr>
            <a:r>
              <a:t>Branch: `saraasawy-frontend`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Files Owned:</a:t>
            </a:r>
            <a:br/>
            <a:r>
              <a:t>src/image_utils.py</a:t>
            </a:r>
            <a:br/>
            <a:r>
              <a:t>app.py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Deliverables:</a:t>
            </a:r>
            <a:br/>
            <a:r>
              <a:t>Canvas stroke preprocessing, Streamlit UI/UX design, full-stack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366F1"/>
                </a:solidFill>
              </a:defRPr>
            </a:pPr>
            <a:r>
              <a:t>CONCLUSION &amp; DISCUSSION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Key Takeaways &amp; Academic Conclusions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Deep Learning Superiority: Both MLP (99.59%) and CNN (99.09%) decisively outperformed Classical SVM (97.02%) in accuracy while executing ~15x to 20x faster at inference time.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Inductive Bias Matters: The CNN achieved 99%+ accuracy with 26% fewer parameters than the MLP, proving that translation invariance and 2D spatial locality are optimal for image classification.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Preprocessing is 50% of the Battle: Without center-of-mass alignment and aspect-ratio preserved scaling, real-world canvas recognition drops severely.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Production-Ready Engineering: Fully deployed online with modular code, zero merge conflicts, and automated reproducible benchmarks.</a:t>
            </a:r>
          </a:p>
          <a:p>
            <a:br/>
            <a:pPr>
              <a:defRPr sz="1200">
                <a:solidFill>
                  <a:srgbClr val="3B82F6"/>
                </a:solidFill>
              </a:defRPr>
            </a:pPr>
            <a:r>
              <a:t>Live App: https://mnistdigitrecognizerr.streamlit.app/  •  GitHub: https://github.com/Mohamxd777/mnist-digit-recognizer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