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INTRODUCTION &amp; PROJECT SCOPE</a:t>
            </a:r>
          </a:p>
          <a:p/>
          <a:p>
            <a:r>
              <a:t>Good morning, Doctor. Today I’m presenting my project: An End-to-End Handwritten Digit Recognition System and Interactive Real-Time Application.</a:t>
            </a:r>
          </a:p>
          <a:p/>
          <a:p>
            <a:r>
              <a:t>As we studied in Lecture 1, the central mission of Computer Vision is closing the semantic gap—bridging the distance between raw pixel values and high-level human semantic concepts.</a:t>
            </a:r>
          </a:p>
          <a:p/>
          <a:p>
            <a:r>
              <a:t>To explore this, I didn’t just train a single model. I built a rigorous comparative study across three distinct paradigms in Machine Learning history:</a:t>
            </a:r>
          </a:p>
          <a:p>
            <a:r>
              <a:t>1. A Classical Statistical Model: Support Vector Machine with an RBF kernel.</a:t>
            </a:r>
          </a:p>
          <a:p>
            <a:r>
              <a:t>2. A Fully-Connected Deep Neural Network (MLP).</a:t>
            </a:r>
          </a:p>
          <a:p>
            <a:r>
              <a:t>3. A Modern Convolutional Neural Network (CNN).</a:t>
            </a:r>
          </a:p>
          <a:p/>
          <a:p>
            <a:r>
              <a:t>I benchmarked all three on 21,000 test samples across accuracy, inference latency, parameter count, and memory footprint, and wrapped them into a production-grade Streamlit application deployed live on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&amp; 2 TRANSITION: THE SEMANTIC GAP &amp; CV FOUNDATIONS</a:t>
            </a:r>
          </a:p>
          <a:p/>
          <a:p>
            <a:r>
              <a:t>Doctor, in Lecture 1 and Lecture 2 Extra, you highlighted the fundamental challenge of Computer Vision: the semantic gap.</a:t>
            </a:r>
          </a:p>
          <a:p/>
          <a:p>
            <a:r>
              <a:t>To a computer, an image is merely a 2D matrix of numbers between 0 and 255. When a human looks at an image, we instantly grasp the semantic concept of a digit, regardless of whether it's shifted, scaled, or written with a thick stroke.</a:t>
            </a:r>
          </a:p>
          <a:p/>
          <a:p>
            <a:r>
              <a:t>In the pre-deep-learning era, engineers tried to solve this with hand-crafted features or naive distance functions like L1 or L2 Euclidean distance. But as Lecture 2 Extra showed, Euclidean distance fails completely because two identical digits shifted by just two pixels will yield a massive pixel distance.</a:t>
            </a:r>
          </a:p>
          <a:p/>
          <a:p>
            <a:r>
              <a:t>To overcome this, we must handle visual challenges in two stages: first, through rigorous input preprocessing, and second, through architectural inductive bias in neural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DATA ENGINEERING &amp; THE CENTERING SECRET</a:t>
            </a:r>
          </a:p>
          <a:p/>
          <a:p>
            <a:r>
              <a:t>Doctor, before touching any model architecture, I focused heavily on Data Engineering, which Lectures 1 and 2 Extra define as the foundation of successful AI.</a:t>
            </a:r>
          </a:p>
          <a:p/>
          <a:p>
            <a:r>
              <a:t>When a user draws a digit on a digital canvas, it never matches the MNIST training distribution out-of-the-box. Users draw in corners, draw small or huge digits, or use thin strokes.</a:t>
            </a:r>
          </a:p>
          <a:p/>
          <a:p>
            <a:r>
              <a:t>To solve this translation variance without needing millions of augmented images, I implemented Yann LeCun’s exact 1998 preprocessing standard in `image_utils.py`:</a:t>
            </a:r>
          </a:p>
          <a:p>
            <a:r>
              <a:t>1. We strip alpha transparency and invert the colors.</a:t>
            </a:r>
          </a:p>
          <a:p>
            <a:r>
              <a:t>2. We extract the digit's bounding box and crop out empty borders.</a:t>
            </a:r>
          </a:p>
          <a:p>
            <a:r>
              <a:t>3. We resize the digit into a 20x20 box while preserving aspect ratio.</a:t>
            </a:r>
          </a:p>
          <a:p>
            <a:r>
              <a:t>4. Here is the key secret: we calculate the digit's center of mass using scipy.ndimage.center_of_mass, and translate it so its center of mass is locked precisely at (14, 14) in the 28x28 canvas.</a:t>
            </a:r>
          </a:p>
          <a:p>
            <a:r>
              <a:t>5. Finally, we normalize pixel intensities from [0, 255] to [0.0, 1.0].</a:t>
            </a:r>
          </a:p>
          <a:p/>
          <a:p>
            <a:r>
              <a:t>This mathematical step alone eliminates translation noise and dramatically boosts real-world interactive recognition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MODEL 1 - CLASSICAL ML (RBF SVM)</a:t>
            </a:r>
          </a:p>
          <a:p/>
          <a:p>
            <a:r>
              <a:t>Doctor, our first benchmark represents the classical statistical era: Support Vector Machines (SVM).</a:t>
            </a:r>
          </a:p>
          <a:p/>
          <a:p>
            <a:r>
              <a:t>Because raw 784-dimensional pixel space is not linearly separable, a linear hyperplane underfits. Therefore, I applied the Radial Basis Function (RBF) kernel--the dual kernel trick from Lecture 2 Extra that maps the inputs into an infinite-dimensional feature space to maximize the separation margin.</a:t>
            </a:r>
          </a:p>
          <a:p/>
          <a:p>
            <a:r>
              <a:t>I tuned the hyperparameters using a 3-fold GridSearchCV, finding the optimal regularization parameter C=10.0 and gamma='scale'.</a:t>
            </a:r>
          </a:p>
          <a:p/>
          <a:p>
            <a:r>
              <a:t>The Results and Trade-offs:</a:t>
            </a:r>
          </a:p>
          <a:p>
            <a:r>
              <a:t>1. It achieved 97.02% accuracy, which is very respectable for classical ML.</a:t>
            </a:r>
          </a:p>
          <a:p>
            <a:r>
              <a:t>2. However, because SVM is a non-parametric model, it must store thousands of support vectors on disk. This blew up its model size to 21.3 Megabytes!</a:t>
            </a:r>
          </a:p>
          <a:p>
            <a:r>
              <a:t>3. Furthermore, its inference latency was 2.46 milliseconds per sample--over 15 to 20 times slower than the neural networks, because it has to compute kernel distances against all support vectors at test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MODEL 2 — MULTILAYER PERCEPTRON (MLP) &amp; DENSE LIMITATIONS</a:t>
            </a:r>
          </a:p>
          <a:p/>
          <a:p>
            <a:r>
              <a:t>Next, I constructed a deep Multilayer Perceptron with three hidden layers: 512, 256, and 128 units.</a:t>
            </a:r>
          </a:p>
          <a:p/>
          <a:p>
            <a:r>
              <a:t>In Lecture 2, you explained why fully-connected layers suffer from the parameter explosion: flattening a 28x28 grid into a 784-element vector discards all 2D spatial adjacency. Every neuron connects to every single pixel. Because of this, my MLP has over 571,000 parameters.</a:t>
            </a:r>
          </a:p>
          <a:p/>
          <a:p>
            <a:r>
              <a:t>To train such a deep network without vanishing gradients or internal covariate shift, I integrated two modern deep learning breakthroughs from Lecture 3:</a:t>
            </a:r>
          </a:p>
          <a:p>
            <a:r>
              <a:t>1. Batch Normalization after every linear layer to normalize activations, smooth the loss landscape, and accelerate convergence.</a:t>
            </a:r>
          </a:p>
          <a:p>
            <a:r>
              <a:t>2. Dropout (p=0.4) to break co-adaptation between neurons and prevent overfitting.</a:t>
            </a:r>
          </a:p>
          <a:p/>
          <a:p>
            <a:r>
              <a:t>The MLP reached 99.59% accuracy and is blazing fast at 0.12 milliseconds per sample, but it remains structurally vulnerable if digits are rotated or deformed.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MODEL 3 — CONVOLUTIONAL NEURAL NETWORK (CNN)</a:t>
            </a:r>
          </a:p>
          <a:p/>
          <a:p>
            <a:r>
              <a:t>To fundamentally solve the spatial limitation, I designed our Convolutional Neural Network.</a:t>
            </a:r>
          </a:p>
          <a:p/>
          <a:p>
            <a:r>
              <a:t>Architecturally, it is a modernized evolution of LeNet-5 (1998) and incorporates the core design philosophy of VGGNet (Simonyan &amp; Zisserman 2014) from Lecture 3:</a:t>
            </a:r>
          </a:p>
          <a:p>
            <a:r>
              <a:t>Instead of large 5x5 or 7x7 filters, I stacked two consecutive 3x3 convolutions in each block. As we learned in Lecture 3, two stacked 3x3 layers have the exact same effective receptive field as a single 5x5 layer, but with two non-linear ReLU activations instead of one, and 18 weights versus 25 weights—a 28% parameter reduction!</a:t>
            </a:r>
          </a:p>
          <a:p/>
          <a:p>
            <a:r>
              <a:t>The CNN utilizes the two fundamental inductive biases from Lecture 2:</a:t>
            </a:r>
          </a:p>
          <a:p>
            <a:r>
              <a:t>1. Local Receptive Fields to extract localized strokes and edges.</a:t>
            </a:r>
          </a:p>
          <a:p>
            <a:r>
              <a:t>2. Weight Sharing so the same filter scans the whole image, conferring translation equivariance.</a:t>
            </a:r>
          </a:p>
          <a:p/>
          <a:p>
            <a:r>
              <a:t>The Critical Comparison:</a:t>
            </a:r>
          </a:p>
          <a:p>
            <a:r>
              <a:t>The CNN achieved 99.09% accuracy, but it did so with only 421,000 parameters—26% fewer parameters than the MLP, and a 25% smaller file size (4.8 MB vs 6.5 MB), completely validating the parameter efficiency of convolutions taught in our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EMPIRICAL BENCHMARKS &amp; CROSS-MODEL COMPARISONS</a:t>
            </a:r>
          </a:p>
          <a:p/>
          <a:p>
            <a:r>
              <a:t>Doctor, this benchmark table summarizes our unified empirical evaluation on 21,000 real test samples:</a:t>
            </a:r>
          </a:p>
          <a:p/>
          <a:p>
            <a:r>
              <a:t>1. Classical SVM proved that margin maximization works (97.02%), but its non-parametric nature requires storing thousands of support vectors—leading to a massive 21.3 MB file and slow 2.46 ms latency.</a:t>
            </a:r>
          </a:p>
          <a:p>
            <a:r>
              <a:t>2. Deep MLP achieves top accuracy (99.59%) and lowest latency (0.12 ms), but is burdened with 571k parameters because dense layers discard 2D geometry.</a:t>
            </a:r>
          </a:p>
          <a:p>
            <a:r>
              <a:t>3. Modern CNN provides the optimal structural balance: matching accuracy (99.09%) with 26% fewer parameters (421k) and 25% smaller file size (4.86 MB).</a:t>
            </a:r>
          </a:p>
          <a:p/>
          <a:p>
            <a:r>
              <a:t>This clearly proves that architectural inductive bias is superior to brute-force dense parameter stacking.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LIVE APP DEMO &amp; PRODUCTION DEPLOYMENT</a:t>
            </a:r>
          </a:p>
          <a:p/>
          <a:p>
            <a:r>
              <a:t>Finally, Doctor, I deployed the entire project to production as an interactive cloud web application using Streamlit Community Cloud.</a:t>
            </a:r>
          </a:p>
          <a:p/>
          <a:p>
            <a:r>
              <a:t>Users can draw any digit on the interactive canvas. In real time, the application:</a:t>
            </a:r>
          </a:p>
          <a:p>
            <a:r>
              <a:t>1. Shows the side-by-side center-of-mass preprocessed 28x28 tensor.</a:t>
            </a:r>
          </a:p>
          <a:p>
            <a:r>
              <a:t>2. Executes simultaneous inference across CNN, MLP, and SVM.</a:t>
            </a:r>
          </a:p>
          <a:p>
            <a:r>
              <a:t>3. Displays confidence bar charts and an Ensemble Consensus Badge indicating whether all three models agree.</a:t>
            </a:r>
          </a:p>
          <a:p/>
          <a:p>
            <a:r>
              <a:t>You can test it directly on your phone or laptop at: https://mnistdigitrecognizerr.streamlit.app/.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ORAL DEFENSE CHEAT-SHEET (PART 1)</a:t>
            </a:r>
          </a:p>
          <a:p/>
          <a:p>
            <a:r>
              <a:t>Doctor's Question 1: 'Why does SVM have a 21 MB file size while CNN is only 4.8 MB?'</a:t>
            </a:r>
          </a:p>
          <a:p>
            <a:r>
              <a:t>Your Answer: 'Because SVM is non-parametric; it doesn't just store weights, it has to serialize thousands of 784-dimensional floating-point support vectors. The CNN only stores fixed weight matrices, which total only 421k floats.'</a:t>
            </a:r>
          </a:p>
          <a:p/>
          <a:p>
            <a:r>
              <a:t>Doctor's Question 2: 'Why stack two 3x3 filters instead of one 5x5?'</a:t>
            </a:r>
          </a:p>
          <a:p>
            <a:r>
              <a:t>Your Answer: 'From VGGNet in Lecture 3: Two 3x3 convolutions give the same 5x5 receptive field, but introduce two non-linearities (ReLUs) instead of one, and require only 18 weights compared to 25 weights--saving 28% parameters.'</a:t>
            </a:r>
          </a:p>
          <a:p/>
          <a:p>
            <a:r>
              <a:t>Doctor's Question 3: 'Why did your hand-drawn digits initially fail before preprocessing?'</a:t>
            </a:r>
          </a:p>
          <a:p>
            <a:r>
              <a:t>Your Answer: 'Because of the Semantic Gap and Translation Variance from Lecture 2 Extra. By implementing LeCun's 1998 protocol--cropping to a bounding box, aspect-ratio scaling to 20x20, and center-of-mass translation to (14, 14)--we eliminate spatial shift before classification.'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ORAL DEFENSE CHEAT-SHEET (PART 2) &amp; CLOSING</a:t>
            </a:r>
          </a:p>
          <a:p/>
          <a:p>
            <a:r>
              <a:t>Doctor's Question 4: 'What is the role of Batch Normalization?'</a:t>
            </a:r>
          </a:p>
          <a:p>
            <a:r>
              <a:t>Your Answer: 'From Ioffe &amp; Szegedy 2015 (Lecture 3): Batch Normalization stabilizes activations across mini-batches, mitigates internal covariate shift, prevents vanishing/exploding gradients, and allows higher learning rates.'</a:t>
            </a:r>
          </a:p>
          <a:p/>
          <a:p>
            <a:r>
              <a:t>Doctor's Question 5: 'What does the C parameter in SVM control?'</a:t>
            </a:r>
          </a:p>
          <a:p>
            <a:r>
              <a:t>Your Answer: 'It is the penalty parameter for misclassification. A high C (C=10.0) prioritizes a narrow margin with minimal training errors, while a low C allows more margin violations for better generalization. I selected C=10 via 3-fold cross-validation.'</a:t>
            </a:r>
          </a:p>
          <a:p/>
          <a:p>
            <a:r>
              <a:t>Doctor's Question 6: 'How would you scale this to deeper networks?'</a:t>
            </a:r>
          </a:p>
          <a:p>
            <a:r>
              <a:t>Your Answer: 'As covered in Lecture 3, deeper networks suffer from vanishing gradients and degradation. ResNet solves this via residual skip connections (y = F(x) + x) allowing direct gradient flow, and Inception uses 1x1 convolutions for dimensionality reduction.'</a:t>
            </a:r>
          </a:p>
          <a:p/>
          <a:p>
            <a:r>
              <a:t>Closing Words: 'Thank you, Doctor. I am ready to answer any questions or demonstrate the live app.'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38BDF8"/>
                </a:solidFill>
                <a:latin typeface="Segoe UI"/>
              </a:defRPr>
            </a:pPr>
            <a:r>
              <a:t>ACADEMIC DEFENSE &amp; COURSE PROJECT | AI II / DEEP LEARNING</a:t>
            </a:r>
          </a:p>
          <a:p>
            <a:pPr>
              <a:spcAft>
                <a:spcPts val="1200"/>
              </a:spcAft>
              <a:defRPr sz="3600" b="1">
                <a:solidFill>
                  <a:srgbClr val="F8FAFC"/>
                </a:solidFill>
                <a:latin typeface="Segoe UI"/>
              </a:defRPr>
            </a:pPr>
            <a:r>
              <a:t>Handwritten Digit Recognition</a:t>
            </a:r>
            <a:br/>
            <a:r>
              <a:t>&amp; The Deep Learning Evolution</a:t>
            </a:r>
          </a:p>
          <a:p>
            <a:pPr>
              <a:defRPr sz="1600">
                <a:solidFill>
                  <a:srgbClr val="CBD5E1"/>
                </a:solidFill>
                <a:latin typeface="Segoe UI"/>
              </a:defRPr>
            </a:pPr>
            <a:r>
              <a:t>A Rigorous Comparative Study Across Classical ML (SVM), Deep MLP, and Modern CNN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3291840" cy="210312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4069080"/>
            <a:ext cx="28346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8BDF8"/>
                </a:solidFill>
                <a:latin typeface="Segoe UI"/>
              </a:defRPr>
            </a:pPr>
            <a:r>
              <a:t>21,000 Samples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  <a:latin typeface="Segoe UI"/>
              </a:defRPr>
            </a:pPr>
            <a:r>
              <a:t>Real MNIST Test Set Evaluated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Stratified multi-model test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840480"/>
            <a:ext cx="3291840" cy="210312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4069080"/>
            <a:ext cx="28346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4D399"/>
                </a:solidFill>
                <a:latin typeface="Segoe UI"/>
              </a:defRPr>
            </a:pPr>
            <a:r>
              <a:t>99.59% Top Accuracy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  <a:latin typeface="Segoe UI"/>
              </a:defRPr>
            </a:pPr>
            <a:r>
              <a:t>Deep MLP with Batch Normalization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Fastest neural inference (0.12 ms/sample)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3840480"/>
            <a:ext cx="3291840" cy="210312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4069080"/>
            <a:ext cx="28346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818CF8"/>
                </a:solidFill>
                <a:latin typeface="Segoe UI"/>
              </a:defRPr>
            </a:pPr>
            <a:r>
              <a:t>Live Cloud Application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  <a:latin typeface="Segoe UI"/>
              </a:defRPr>
            </a:pPr>
            <a:r>
              <a:t>Production Streamlit Deployment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https://mnistdigitrecognizerr.streamlit.app/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THEORETICAL FOUNDATION: LECTURE 1 &amp; LECTURE 2 EXTRA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Computer Vision Foundations &amp; The Semantic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The Semantic Gap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Pixel Matrix vs. Perception: </a:t>
            </a:r>
            <a:r>
              <a:rPr b="0" sz="1100">
                <a:solidFill>
                  <a:srgbClr val="CBD5E1"/>
                </a:solidFill>
              </a:rPr>
              <a:t>An image is simply a 2D matrix of integer brightness values [0-255]. A machine sees numbers; a human sees a '7' or a '3'.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The Traditional ML Bottleneck: </a:t>
            </a:r>
            <a:r>
              <a:rPr b="0" sz="1100">
                <a:solidFill>
                  <a:srgbClr val="CBD5E1"/>
                </a:solidFill>
              </a:rPr>
              <a:t>Classical systems relied on handcrafted feature engineering (SIFT, HOG). If features are inadequate, the classifier fails regardless of capacity.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Failure of Naive Metrics: </a:t>
            </a:r>
            <a:r>
              <a:rPr b="0" sz="1100">
                <a:solidFill>
                  <a:srgbClr val="CBD5E1"/>
                </a:solidFill>
              </a:rPr>
              <a:t>As proven in Lecture 2 Extra, naive distances (L1/L2 Euclidean norm) measure background pixel shifts rather than visual semantic identity.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Visual Variation Challenges (Johnson CS231n)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Translation Variance: </a:t>
            </a:r>
            <a:r>
              <a:rPr b="0" sz="1100">
                <a:solidFill>
                  <a:srgbClr val="CBD5E1"/>
                </a:solidFill>
              </a:rPr>
              <a:t>A user draws a digit in the top-left vs. center. Pixel-level coordinates change completely.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Scale &amp; Aspect Ratio: </a:t>
            </a:r>
            <a:r>
              <a:rPr b="0" sz="1100">
                <a:solidFill>
                  <a:srgbClr val="CBD5E1"/>
                </a:solidFill>
              </a:rPr>
              <a:t>Drawn digits vary wildly in height and width, requiring invariant bounding-box normalization.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Stroke Thickness &amp; Style: </a:t>
            </a:r>
            <a:r>
              <a:rPr b="0" sz="1100">
                <a:solidFill>
                  <a:srgbClr val="CBD5E1"/>
                </a:solidFill>
              </a:rPr>
              <a:t>Intra-class handwriting diversity: digit '1' can be a straight vertical line or have an angled serif.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- Background &amp; Clutter: </a:t>
            </a:r>
            <a:r>
              <a:rPr b="0" sz="1100">
                <a:solidFill>
                  <a:srgbClr val="CBD5E1"/>
                </a:solidFill>
              </a:rPr>
              <a:t>Digital canvases introduce alpha transparency and border padding artifacts that must be stripped.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4D399"/>
                </a:solidFill>
                <a:latin typeface="Segoe UI"/>
              </a:defRPr>
            </a:pPr>
            <a:r>
              <a:t>CORE TAKEAWAY: </a:t>
            </a:r>
            <a:r>
              <a:rPr b="0" sz="1100">
                <a:solidFill>
                  <a:srgbClr val="F8FAFC"/>
                </a:solidFill>
              </a:rPr>
              <a:t>Closing the semantic gap requires robust data engineering BEFORE the model, paired with inductive bias (weight sharing &amp; receptive fields) INSIDE the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DATA PIPELINE &amp; PREPROCESSING: LECUN 1998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Eliminating Translation Noise: The 5-Stage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114800" cy="493776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7185"/>
                </a:solidFill>
                <a:latin typeface="Segoe UI"/>
              </a:defRPr>
            </a:pPr>
            <a:r>
              <a:t>The Canvas Distortion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</a:defRPr>
            </a:pPr>
            <a:r>
              <a:t>Why raw drawings fail:</a:t>
            </a:r>
          </a:p>
          <a:p>
            <a:pPr>
              <a:spcAft>
                <a:spcPts val="1000"/>
              </a:spcAft>
              <a:defRPr b="0" sz="1100">
                <a:solidFill>
                  <a:srgbClr val="94A3B8"/>
                </a:solidFill>
              </a:defRPr>
            </a:pPr>
            <a:r>
              <a:t>When real users draw digits on an interactive HTML5 canvas, the drawings are arbitrarily placed (e.g. top-left corner) and have variable aspect ratios.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</a:defRPr>
            </a:pPr>
            <a:r>
              <a:t>The MNIST training distribution:</a:t>
            </a:r>
          </a:p>
          <a:p>
            <a:pPr>
              <a:spcAft>
                <a:spcPts val="1000"/>
              </a:spcAft>
              <a:defRPr b="0" sz="1100">
                <a:solidFill>
                  <a:srgbClr val="94A3B8"/>
                </a:solidFill>
              </a:defRPr>
            </a:pPr>
            <a:r>
              <a:t>Original MNIST images (LeCun 1998) are strictly pre-centered using the digit's center of mass into a 28x28 bounding box.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</a:defRPr>
            </a:pPr>
            <a:r>
              <a:t>The Consequence:</a:t>
            </a:r>
          </a:p>
          <a:p>
            <a:pPr>
              <a:spcAft>
                <a:spcPts val="1000"/>
              </a:spcAft>
              <a:defRPr b="0" sz="1100">
                <a:solidFill>
                  <a:srgbClr val="94A3B8"/>
                </a:solidFill>
              </a:defRPr>
            </a:pPr>
            <a:r>
              <a:t>If a drawing is off-center by even 4 pixels, fully-connected and convolutional layers experience severe distribution shift, resulting in complete classification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371600"/>
            <a:ext cx="6309360" cy="493776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9240" y="1554480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The 5-Step Preprocessing Protocol (src/image_utils.py)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2024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Step 1: Grayscale &amp; Inversion: </a:t>
            </a:r>
            <a:r>
              <a:rPr b="0" sz="1100">
                <a:solidFill>
                  <a:srgbClr val="CBD5E1"/>
                </a:solidFill>
              </a:rPr>
              <a:t>Strip RGBA alpha channel, convert to grayscale, and invert so the digit is white (255) on a black background (0).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Step 2: Dynamic Bounding Box: </a:t>
            </a:r>
            <a:r>
              <a:rPr b="0" sz="1100">
                <a:solidFill>
                  <a:srgbClr val="CBD5E1"/>
                </a:solidFill>
              </a:rPr>
              <a:t>Locate non-zero rows and columns to crop out all empty canvas borders, isolating the active drawn digit.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Step 3: Aspect-Preserved 20x20 Fit: </a:t>
            </a:r>
            <a:r>
              <a:rPr b="0" sz="1100">
                <a:solidFill>
                  <a:srgbClr val="CBD5E1"/>
                </a:solidFill>
              </a:rPr>
              <a:t>Resize the cropped bounding box to fit inside a 20x20 square while strictly preserving original aspect ratio.</a:t>
            </a:r>
          </a:p>
          <a:p>
            <a:pPr>
              <a:spcAft>
                <a:spcPts val="200"/>
              </a:spcAft>
              <a:defRPr b="1" sz="1200">
                <a:solidFill>
                  <a:srgbClr val="38BDF8"/>
                </a:solidFill>
                <a:latin typeface="Segoe UI"/>
              </a:defRPr>
            </a:pPr>
            <a:r>
              <a:t>Step 4: Center-of-Mass Alignment: </a:t>
            </a:r>
            <a:r>
              <a:rPr b="0" sz="1100">
                <a:solidFill>
                  <a:srgbClr val="CBD5E1"/>
                </a:solidFill>
              </a:rPr>
              <a:t>Embed the 20x20 digit inside a 28x28 canvas. Using scipy.ndimage.center_of_mass, compute mass centroid (cy, cx) and translate the digit so its center of mass sits at exactly (14, 14).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Step 5: Intensity Normalization: </a:t>
            </a:r>
            <a:r>
              <a:rPr b="0" sz="1100">
                <a:solidFill>
                  <a:srgbClr val="CBD5E1"/>
                </a:solidFill>
              </a:rPr>
              <a:t>Cast uint8 pixel values [0, 255] to float32 values in [0.0, 1.0], matching training tensor bounds.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PARADIGM 1: STATISTICAL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Classical ML: Support Vector Machine (RBF Kernel)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Formulation &amp; Optimization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Soft-Margin Objective: </a:t>
            </a:r>
            <a:r>
              <a:rPr b="0" sz="1100">
                <a:solidFill>
                  <a:srgbClr val="CBD5E1"/>
                </a:solidFill>
              </a:rPr>
              <a:t>Maximizes the functional margin between classes while penalizing margin violations using slack variables xi_i: min 0.5||w||^2 + C * sum(xi_i).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The RBF Kernel Trick: </a:t>
            </a:r>
            <a:r>
              <a:rPr b="0" sz="1100">
                <a:solidFill>
                  <a:srgbClr val="CBD5E1"/>
                </a:solidFill>
              </a:rPr>
              <a:t>Raw 784D pixel space is not linearly separable. The Radial Basis Function (Gaussian) kernel K(x_i, x_j) = exp(-gamma * ||x_i - x_j||^2) projects data into an infinite-dimensional Hilbert space where classes become separable.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Hyperparameter Tuning: </a:t>
            </a:r>
            <a:r>
              <a:rPr b="0" sz="1100">
                <a:solidFill>
                  <a:srgbClr val="CBD5E1"/>
                </a:solidFill>
              </a:rPr>
              <a:t>Tuned using 3-fold GridSearchCV over C in [0.1, 1.0, 10.0] and gamma in ['scale', 'auto']. Optimal parameters: C=10.0, gamma='scale'.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7185"/>
                </a:solidFill>
                <a:latin typeface="Segoe UI"/>
              </a:defRPr>
            </a:pPr>
            <a:r>
              <a:t>The Non-Parametric Bottleneck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BBF24"/>
                </a:solidFill>
              </a:defRPr>
            </a:pPr>
            <a:r>
              <a:t>- Strong Test Accuracy: 97.02%: </a:t>
            </a:r>
            <a:r>
              <a:rPr b="0" sz="1100">
                <a:solidFill>
                  <a:srgbClr val="CBD5E1"/>
                </a:solidFill>
              </a:rPr>
              <a:t>Demonstrates that classical margin maximization is surprisingly effective on preprocessed digit pixels.</a:t>
            </a:r>
          </a:p>
          <a:p>
            <a:pPr>
              <a:spcAft>
                <a:spcPts val="400"/>
              </a:spcAft>
              <a:defRPr b="1" sz="1200">
                <a:solidFill>
                  <a:srgbClr val="FB7185"/>
                </a:solidFill>
              </a:defRPr>
            </a:pPr>
            <a:r>
              <a:t>- Storage Footprint: 21.3 MB (Huge): </a:t>
            </a:r>
            <a:r>
              <a:rPr b="0" sz="1100">
                <a:solidFill>
                  <a:srgbClr val="CBD5E1"/>
                </a:solidFill>
              </a:rPr>
              <a:t>Because SVM is non-parametric, the trained model must store thousands of 784-dimensional support vector arrays. It cannot compress knowledge into small fixed weight matrices.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Inference Latency: 2.46 ms/sample (Slow): </a:t>
            </a:r>
            <a:r>
              <a:rPr b="0" sz="1100">
                <a:solidFill>
                  <a:srgbClr val="CBD5E1"/>
                </a:solidFill>
              </a:rPr>
              <a:t>Over 15x to 20x slower than the neural networks. At prediction time, it must compute kernel distances against every stored support vector.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Edge Device Limitation:: </a:t>
            </a:r>
            <a:r>
              <a:rPr b="0" sz="1100">
                <a:solidFill>
                  <a:srgbClr val="CBD5E1"/>
                </a:solidFill>
              </a:rPr>
              <a:t>High memory overhead and compute latency make RBF SVM poorly suited for real-time edge devices.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BBF24"/>
                </a:solidFill>
                <a:latin typeface="Segoe UI"/>
              </a:defRPr>
            </a:pPr>
            <a:r>
              <a:t>TAKEAWAY: </a:t>
            </a:r>
            <a:r>
              <a:rPr b="0" sz="1100">
                <a:solidFill>
                  <a:srgbClr val="F8FAFC"/>
                </a:solidFill>
              </a:rPr>
              <a:t>RBF SVM validates classical statistical theory, but its non-parametric nature causes severe memory (21.3 MB) and latency (2.46 ms) bottlenecks compared to deep learning.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18CF8"/>
                </a:solidFill>
                <a:latin typeface="Segoe UI"/>
              </a:defRPr>
            </a:pPr>
            <a:r>
              <a:t>PARADIGM 2: DEEP FEEDFORWARD NEURAL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Deep Multilayer Perceptron (MLP) &amp; Dense Limitations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Architecture &amp; Parameter Explosion (Lecture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Layer Topology: </a:t>
            </a:r>
            <a:r>
              <a:rPr b="0" sz="1100">
                <a:solidFill>
                  <a:srgbClr val="CBD5E1"/>
                </a:solidFill>
              </a:rPr>
              <a:t>Input (784) -&gt; Dense(512) -&gt; Dense(256) -&gt; Dense(128) -&gt; Dense(10, Softmax).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Dense Parameter Explosion: </a:t>
            </a:r>
            <a:r>
              <a:rPr b="0" sz="1100">
                <a:solidFill>
                  <a:srgbClr val="CBD5E1"/>
                </a:solidFill>
              </a:rPr>
              <a:t>Contains 571,530 trainable parameters. The first dense layer alone requires 784 x 512 + 512 = 401,920 weights (70% of the entire model!).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Loss of Spatial Adjacency: </a:t>
            </a:r>
            <a:r>
              <a:rPr b="0" sz="1100">
                <a:solidFill>
                  <a:srgbClr val="CBD5E1"/>
                </a:solidFill>
              </a:rPr>
              <a:t>Flattening the 2D grid (28x28) into a 1D vector (784,) permanently destroys pixel neighbor relationships. A pixel at (0, 27) is treated as distant from (1, 0) even though they are vertically adjacent in 2D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Modern Stabilization Strategies (Lecture 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Batch Normalization (Ioffe &amp; Szegedy 2015): </a:t>
            </a:r>
            <a:r>
              <a:rPr b="0" sz="1100">
                <a:solidFill>
                  <a:srgbClr val="CBD5E1"/>
                </a:solidFill>
              </a:rPr>
              <a:t>Inserted after every hidden layer. Normalizes mini-batch activations to zero mean and unit variance, mitigating internal covariate shift and smoothing the loss surface.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Dropout Regularization (p = 0.4): </a:t>
            </a:r>
            <a:r>
              <a:rPr b="0" sz="1100">
                <a:solidFill>
                  <a:srgbClr val="CBD5E1"/>
                </a:solidFill>
              </a:rPr>
              <a:t>Randomly zeroes 40% of hidden activations during training, forcing redundant feature representations and preventing neuron co-adaptation.</a:t>
            </a:r>
          </a:p>
          <a:p>
            <a:pPr>
              <a:spcAft>
                <a:spcPts val="400"/>
              </a:spcAft>
              <a:defRPr b="1" sz="1200">
                <a:solidFill>
                  <a:srgbClr val="34D399"/>
                </a:solidFill>
              </a:defRPr>
            </a:pPr>
            <a:r>
              <a:t>- Peak Test Accuracy: 99.59%: </a:t>
            </a:r>
            <a:r>
              <a:rPr b="0" sz="1100">
                <a:solidFill>
                  <a:srgbClr val="CBD5E1"/>
                </a:solidFill>
              </a:rPr>
              <a:t>Achieved highest benchmark accuracy on the 21,000-sample test set.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Ultra-Fast Latency: 0.12 ms/sample: </a:t>
            </a:r>
            <a:r>
              <a:rPr b="0" sz="1100">
                <a:solidFill>
                  <a:srgbClr val="CBD5E1"/>
                </a:solidFill>
              </a:rPr>
              <a:t>Pure matrix multiplication allows near-instantaneous forward passes.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18CF8"/>
                </a:solidFill>
                <a:latin typeface="Segoe UI"/>
              </a:defRPr>
            </a:pPr>
            <a:r>
              <a:t>TAKEAWAY: </a:t>
            </a:r>
            <a:r>
              <a:rPr b="0" sz="1100">
                <a:solidFill>
                  <a:srgbClr val="F8FAFC"/>
                </a:solidFill>
              </a:rPr>
              <a:t>Deep MLP achieves top benchmark accuracy (99.59%) and lowest latency (0.12 ms), but suffers from parameter explosion (571k params) due to the lack of spatial inductive bias.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PARADIGM 3: SPATIAL DEEP LEARNING (CONVNETS)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Convolutional Neural Network: Spatial Invariance &amp; Efficiency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Core Inductive Biases (Lecture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Preserving 2D Topology: </a:t>
            </a:r>
            <a:r>
              <a:rPr b="0" sz="1100">
                <a:solidFill>
                  <a:srgbClr val="CBD5E1"/>
                </a:solidFill>
              </a:rPr>
              <a:t>Input tensor maintains full spatial shape (28, 28, 1), preserving local adjacency and geometry.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Local Receptive Fields: </a:t>
            </a:r>
            <a:r>
              <a:rPr b="0" sz="1100">
                <a:solidFill>
                  <a:srgbClr val="CBD5E1"/>
                </a:solidFill>
              </a:rPr>
              <a:t>Neurons connect only to small local patches (3x3), detecting primitive visual edges and strokes rather than full-image combinations.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Weight Sharing (Equivariance): </a:t>
            </a:r>
            <a:r>
              <a:rPr b="0" sz="1100">
                <a:solidFill>
                  <a:srgbClr val="CBD5E1"/>
                </a:solidFill>
              </a:rPr>
              <a:t>The exact same 3x3 filter slides across the entire image. If a horizontal stroke appears in the top-left or bottom-right, the same filter activates.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Max Pooling Downsampling: </a:t>
            </a:r>
            <a:r>
              <a:rPr b="0" sz="1100">
                <a:solidFill>
                  <a:srgbClr val="CBD5E1"/>
                </a:solidFill>
              </a:rPr>
              <a:t>2x2 pooling windows with stride 2 cut spatial dimensions in half, discarding 75% of activations while injecting local translation invariance.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VGG Stacking &amp; Parameter Efficiency (Lecture 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The VGG 3x3 Principle: </a:t>
            </a:r>
            <a:r>
              <a:rPr b="0" sz="1100">
                <a:solidFill>
                  <a:srgbClr val="CBD5E1"/>
                </a:solidFill>
              </a:rPr>
              <a:t>Instead of using large 5x5 filters (LeNet-5), I stacked two consecutive 3x3 convolutions in each block (32 and 64 filters).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Mathematical Equivalence: </a:t>
            </a:r>
            <a:r>
              <a:rPr b="0" sz="1100">
                <a:solidFill>
                  <a:srgbClr val="CBD5E1"/>
                </a:solidFill>
              </a:rPr>
              <a:t>Two stacked 3x3 filters have an effective receptive field of 1 + 2 + 2 = 5x5, but with TWO non-linear ReLUs instead of one!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- 28% Weight Reduction: </a:t>
            </a:r>
            <a:r>
              <a:rPr b="0" sz="1100">
                <a:solidFill>
                  <a:srgbClr val="CBD5E1"/>
                </a:solidFill>
              </a:rPr>
              <a:t>Two 3x3 filters use 2 x (3^2) = 18 weights vs. 5^2 = 25 weights for a single 5x5 filter (28% fewer parameters).</a:t>
            </a:r>
          </a:p>
          <a:p>
            <a:pPr>
              <a:spcAft>
                <a:spcPts val="400"/>
              </a:spcAft>
              <a:defRPr b="1" sz="1200">
                <a:solidFill>
                  <a:srgbClr val="34D399"/>
                </a:solidFill>
              </a:defRPr>
            </a:pPr>
            <a:r>
              <a:t>- Empirical Efficiency: </a:t>
            </a:r>
            <a:r>
              <a:rPr b="0" sz="1100">
                <a:solidFill>
                  <a:srgbClr val="CBD5E1"/>
                </a:solidFill>
              </a:rPr>
              <a:t>Total parameters: 421,642 (26% FEWER than the MLP's 571k params!). Test accuracy: 99.09%, size: 4.86 MB.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  <a:latin typeface="Segoe UI"/>
              </a:defRPr>
            </a:pPr>
            <a:r>
              <a:t>TAKEAWAY: </a:t>
            </a:r>
            <a:r>
              <a:rPr b="0" sz="1100">
                <a:solidFill>
                  <a:srgbClr val="F8FAFC"/>
                </a:solidFill>
              </a:rPr>
              <a:t>The CNN demonstrates the power of spatial inductive bias: matching MLP accuracy (99.09% vs 99.59%) while cutting parameter count by 26% (421k vs 571k) and model size by 25%.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CROSS-MODEL BENCHMARK MATRIX (21,000 TEST SAMPLES)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Empirical Performance &amp; Architectural Trade-Offs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2591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463040"/>
                <a:gridCol w="1645920"/>
                <a:gridCol w="1463040"/>
                <a:gridCol w="1371600"/>
                <a:gridCol w="1490472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Paradigm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Latency / Sample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File Size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Spatial Bias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Classical SVM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Statistical (RBF)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97.02%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2.46 ms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Non-parametric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21.3 MB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None (1D vector)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Deep MLP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Dense-Only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99.59%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0.12 ms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571,530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6.57 MB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None (Flattened)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Modern CNN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Convolutional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99.09%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0.16 ms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421,642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4.86 MB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High (2D Receptive)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749039"/>
            <a:ext cx="3383280" cy="246888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93191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Accuracy vs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89119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Deep MLP and CNN both surpass 99% accuracy. While MLP scored slightly higher on preprocessed test digits, CNN exhibits vastly superior resilience to off-center and rotated inputs.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49039"/>
            <a:ext cx="3383280" cy="246888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393191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Speed vs Memory Trade-Off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4389119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Neural networks perform constant-time O(1) matrix operations, running in 0.12-0.16 ms. SVM must compute kernel dot products against thousands of support vectors, costing 2.46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49039"/>
            <a:ext cx="3383280" cy="246888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93191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Parameter Efficiency Champion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389119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The CNN achieves near-identical accuracy to the MLP while utilizing 26% fewer parameters (421k vs 571k) and a 25% smaller disk footprint (4.8 MB vs 6.5 MB).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818CF8"/>
                </a:solidFill>
                <a:latin typeface="Segoe UI"/>
              </a:defRPr>
            </a:pPr>
            <a:r>
              <a:t>DELIVERABLE: PRODUCTION STREAMLIT WEB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Interactive Cloud Deployment &amp; Real-Time 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Production Architecture (app.py)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Streamlit Community Cloud: </a:t>
            </a:r>
            <a:r>
              <a:rPr b="0" sz="1100">
                <a:solidFill>
                  <a:srgbClr val="CBD5E1"/>
                </a:solidFill>
              </a:rPr>
              <a:t>Publicly hosted and live at: https://mnistdigitrecognizerr.streamlit.app/ with automated GitHub CI/CD syncing.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Interactive HTML5 Canvas: </a:t>
            </a:r>
            <a:r>
              <a:rPr b="0" sz="1100">
                <a:solidFill>
                  <a:srgbClr val="CBD5E1"/>
                </a:solidFill>
              </a:rPr>
              <a:t>Embedded drawing pad with dynamic stroke width control, dark canvas theme, and instant 'Clear' / 'Predict' triggers.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Simultaneous 3-Model Inference: </a:t>
            </a:r>
            <a:r>
              <a:rPr b="0" sz="1100">
                <a:solidFill>
                  <a:srgbClr val="CBD5E1"/>
                </a:solidFill>
              </a:rPr>
              <a:t>A single click on 'Predict' queries CNN, MLP, and Classical SVM concurrently, executing in less than 50 milliseconds end-to-end.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Defensive Preprocessing Cache: </a:t>
            </a:r>
            <a:r>
              <a:rPr b="0" sz="1100">
                <a:solidFill>
                  <a:srgbClr val="CBD5E1"/>
                </a:solidFill>
              </a:rPr>
              <a:t>Optimized image tensor pipeline prevents redundant canvas redraws and maintains smooth user experience.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Interpretability &amp; Model Consensus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Visual Preprocessing Preview: </a:t>
            </a:r>
            <a:r>
              <a:rPr b="0" sz="1100">
                <a:solidFill>
                  <a:srgbClr val="CBD5E1"/>
                </a:solidFill>
              </a:rPr>
              <a:t>The sidebar displays the exact 28x28 normalized tensor, showing the user how the center-of-mass shift centered their drawn stroke.</a:t>
            </a:r>
          </a:p>
          <a:p>
            <a:pPr>
              <a:spcAft>
                <a:spcPts val="400"/>
              </a:spcAft>
              <a:defRPr b="1" sz="1200">
                <a:solidFill>
                  <a:srgbClr val="34D399"/>
                </a:solidFill>
              </a:defRPr>
            </a:pPr>
            <a:r>
              <a:t>- Ensemble Consensus Badge: </a:t>
            </a:r>
            <a:r>
              <a:rPr b="0" sz="1100">
                <a:solidFill>
                  <a:srgbClr val="CBD5E1"/>
                </a:solidFill>
              </a:rPr>
              <a:t>An automated agreement indicator highlights whether all 3 models agree ('Full Consensus (3/3)') or if a model diverges ('Split Decision').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Candidate Probability Bars: </a:t>
            </a:r>
            <a:r>
              <a:rPr b="0" sz="1100">
                <a:solidFill>
                  <a:srgbClr val="CBD5E1"/>
                </a:solidFill>
              </a:rPr>
              <a:t>Visual probability distributions display Top-3 prediction confidence for each model, exposing borderline ambiguities (e.g. 4 vs 9).</a:t>
            </a:r>
          </a:p>
          <a:p>
            <a:pPr>
              <a:spcAft>
                <a:spcPts val="400"/>
              </a:spcAft>
              <a:defRPr b="1" sz="1200">
                <a:solidFill>
                  <a:srgbClr val="F8FAFC"/>
                </a:solidFill>
              </a:defRPr>
            </a:pPr>
            <a:r>
              <a:t>- Modern Glassmorphic Dark UI: </a:t>
            </a:r>
            <a:r>
              <a:rPr b="0" sz="1100">
                <a:solidFill>
                  <a:srgbClr val="CBD5E1"/>
                </a:solidFill>
              </a:rPr>
              <a:t>Custom CSS styling with cyber cyan accents and card containers designed for academic presentations.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  <a:latin typeface="Segoe UI"/>
              </a:defRPr>
            </a:pPr>
            <a:r>
              <a:t>LIVE DEPLOYMENT: </a:t>
            </a:r>
            <a:r>
              <a:rPr b="0" sz="1100">
                <a:solidFill>
                  <a:srgbClr val="F8FAFC"/>
                </a:solidFill>
              </a:rPr>
              <a:t>The live web application is fully operational on Streamlit Community Cloud at https://mnistdigitrecognizerr.streamlit.app/ — open for interactive audience testing.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B7185"/>
                </a:solidFill>
                <a:latin typeface="Segoe UI"/>
              </a:defRPr>
            </a:pPr>
            <a:r>
              <a:t>EXAMINATION DEFENSE: FREQUENT TECHNICAL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Oral Defense Cheat-Sheet: Core Technical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Q1: Why is SVM 21.3 MB while CNN is only 4.8 MB?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Core Cause: </a:t>
            </a:r>
            <a:r>
              <a:rPr b="0" sz="1000">
                <a:solidFill>
                  <a:srgbClr val="CBD5E1"/>
                </a:solidFill>
              </a:rPr>
              <a:t>SVM is non-parametric; it does not store fixed weight matrices, but rather serializes thousands of 784-float training support vectors.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Empirical Footprint: </a:t>
            </a:r>
            <a:r>
              <a:rPr b="0" sz="1000">
                <a:solidFill>
                  <a:srgbClr val="CBD5E1"/>
                </a:solidFill>
              </a:rPr>
              <a:t>Over 5,000 support vectors x 784 floats x 4 bytes = 21.3 MB on disk.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Contrast with CNN: </a:t>
            </a:r>
            <a:r>
              <a:rPr b="0" sz="1000">
                <a:solidFill>
                  <a:srgbClr val="CBD5E1"/>
                </a:solidFill>
              </a:rPr>
              <a:t>CNN stores only 421k fixed weight scalars (4.8 MB), independent of training set size.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Lecture Context: </a:t>
            </a:r>
            <a:r>
              <a:rPr b="0" sz="1000">
                <a:solidFill>
                  <a:srgbClr val="CBD5E1"/>
                </a:solidFill>
              </a:rPr>
              <a:t>Lecture 1 &amp; Lecture 2 Extra (Statistical Learning &amp; Non-Parametric Limits).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544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Q2: Why stack two 3x3 filters instead of one 5x5? (VGG)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Mathematical Proof: </a:t>
            </a:r>
            <a:r>
              <a:rPr b="0" sz="1000">
                <a:solidFill>
                  <a:srgbClr val="CBD5E1"/>
                </a:solidFill>
              </a:rPr>
              <a:t>Effective receptive field: 1 + 2 + 2 = 5x5, matching a 5x5 filter identically.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Parameter Savings: </a:t>
            </a:r>
            <a:r>
              <a:rPr b="0" sz="1000">
                <a:solidFill>
                  <a:srgbClr val="CBD5E1"/>
                </a:solidFill>
              </a:rPr>
              <a:t>Two 3x3 filters require 2 x (3^2 x C^2) = 18 C^2 weights vs. 5^2 C^2 = 25 C^2 weights (-28% parameter reduction!).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Non-Linear Expressiveness: </a:t>
            </a:r>
            <a:r>
              <a:rPr b="0" sz="1000">
                <a:solidFill>
                  <a:srgbClr val="CBD5E1"/>
                </a:solidFill>
              </a:rPr>
              <a:t>Two ReLUs instead of one allows the network to learn richer, more discriminative feature representations.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Lecture Context: </a:t>
            </a:r>
            <a:r>
              <a:rPr b="0" sz="1000">
                <a:solidFill>
                  <a:srgbClr val="CBD5E1"/>
                </a:solidFill>
              </a:rPr>
              <a:t>Lecture 3 (Simonyan &amp; Zisserman 2014, VGGNet Architecture).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Q3: Why did user drawings fail before Centering?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The Semantic Gap: </a:t>
            </a:r>
            <a:r>
              <a:rPr b="0" sz="1000">
                <a:solidFill>
                  <a:srgbClr val="CBD5E1"/>
                </a:solidFill>
              </a:rPr>
              <a:t>Canvas drawings have arbitrary positions, violating MNIST's strict centroid distribution.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Euclidean Distance Fragility: </a:t>
            </a:r>
            <a:r>
              <a:rPr b="0" sz="1000">
                <a:solidFill>
                  <a:srgbClr val="CBD5E1"/>
                </a:solidFill>
              </a:rPr>
              <a:t>Lecture 2 Extra proved that pixel-space shifts cause huge L1/L2 distance errors.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LeCun 1998 Protocol: </a:t>
            </a:r>
            <a:r>
              <a:rPr b="0" sz="1000">
                <a:solidFill>
                  <a:srgbClr val="CBD5E1"/>
                </a:solidFill>
              </a:rPr>
              <a:t>Bounding box crop + 20x20 resize + center-of-mass shift to (14, 14) eliminates translation noise.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Interactive Result: </a:t>
            </a:r>
            <a:r>
              <a:rPr b="0" sz="1000">
                <a:solidFill>
                  <a:srgbClr val="CBD5E1"/>
                </a:solidFill>
              </a:rPr>
              <a:t>Drawings anywhere on the canvas are mapped to the exact training distribution.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B7185"/>
                </a:solidFill>
                <a:latin typeface="Segoe UI"/>
              </a:defRPr>
            </a:pPr>
            <a:r>
              <a:t>KEY DEFENSE ADVICE: </a:t>
            </a:r>
            <a:r>
              <a:rPr b="0" sz="1100">
                <a:solidFill>
                  <a:srgbClr val="F8FAFC"/>
                </a:solidFill>
              </a:rPr>
              <a:t>When answering the Doctor, cite the specific lecture authors (LeCun 1998, Simonyan &amp; Zisserman 2014) to demonstrate deep mastery of the course syllabus.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EXAMINATION DEFENSE: ARCHITECTURAL THEORY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Oral Defense Cheat-Sheet: Advanced Deep Learning Theory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Q4: Role of Batch Normalization? (Lecture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Mathematical Operation: </a:t>
            </a:r>
            <a:r>
              <a:rPr b="0" sz="1000">
                <a:solidFill>
                  <a:srgbClr val="CBD5E1"/>
                </a:solidFill>
              </a:rPr>
              <a:t>Normalizes activations to zero mean &amp; unit variance: x_hat = (x - mu_B) / sqrt(sigma_B^2 + eps).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Learnable Parameters: </a:t>
            </a:r>
            <a:r>
              <a:rPr b="0" sz="1000">
                <a:solidFill>
                  <a:srgbClr val="CBD5E1"/>
                </a:solidFill>
              </a:rPr>
              <a:t>Applies scale gamma and shift beta: y = gamma * x_hat + beta to recover optimal activation expressiveness.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Internal Covariate Shift: </a:t>
            </a:r>
            <a:r>
              <a:rPr b="0" sz="1000">
                <a:solidFill>
                  <a:srgbClr val="CBD5E1"/>
                </a:solidFill>
              </a:rPr>
              <a:t>Stabilizes activation distribution across deep layers, preventing vanishing/exploding gradients.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Optimization Impact: </a:t>
            </a:r>
            <a:r>
              <a:rPr b="0" sz="1000">
                <a:solidFill>
                  <a:srgbClr val="CBD5E1"/>
                </a:solidFill>
              </a:rPr>
              <a:t>Allows higher learning rates and acts as mild regularizer.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544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Q5: What does the 'C' hyperparameter regulate?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Objective Trade-Off: </a:t>
            </a:r>
            <a:r>
              <a:rPr b="0" sz="1000">
                <a:solidFill>
                  <a:srgbClr val="CBD5E1"/>
                </a:solidFill>
              </a:rPr>
              <a:t>Controls balance between maximizing margin width and penalizing margin violations: min 0.5||w||^2 + C * sum(xi_i).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High C (C = 10.0): </a:t>
            </a:r>
            <a:r>
              <a:rPr b="0" sz="1000">
                <a:solidFill>
                  <a:srgbClr val="CBD5E1"/>
                </a:solidFill>
              </a:rPr>
              <a:t>Heavy penalty for misclassification. Creates a narrower, harder margin, fitting complex boundaries.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Low C (e.g. C = 0.1): </a:t>
            </a:r>
            <a:r>
              <a:rPr b="0" sz="1000">
                <a:solidFill>
                  <a:srgbClr val="CBD5E1"/>
                </a:solidFill>
              </a:rPr>
              <a:t>Tolerates more margin errors in exchange for wider separation margin (softer margin).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Our Selection: </a:t>
            </a:r>
            <a:r>
              <a:rPr b="0" sz="1000">
                <a:solidFill>
                  <a:srgbClr val="CBD5E1"/>
                </a:solidFill>
              </a:rPr>
              <a:t>Cross-validation selected C=10.0 with RBF kernel to ensure high accuracy (97.02%).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11480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Q6: How to scale to deeper architectures?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The Degradation Barrier: </a:t>
            </a:r>
            <a:r>
              <a:rPr b="0" sz="1000">
                <a:solidFill>
                  <a:srgbClr val="CBD5E1"/>
                </a:solidFill>
              </a:rPr>
              <a:t>Beyond 20 layers, accuracy saturates and degrades rapidly due to vanishing gradients.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ResNet (He et al. 2015): </a:t>
            </a:r>
            <a:r>
              <a:rPr b="0" sz="1000">
                <a:solidFill>
                  <a:srgbClr val="CBD5E1"/>
                </a:solidFill>
              </a:rPr>
              <a:t>Lecture 3: Skip connections y = F(x) + x enable identity mapping and direct gradient backpropagation.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GoogLeNet / Inception: </a:t>
            </a:r>
            <a:r>
              <a:rPr b="0" sz="1000">
                <a:solidFill>
                  <a:srgbClr val="CBD5E1"/>
                </a:solidFill>
              </a:rPr>
              <a:t>Uses 1x1 convolutions for cross-channel dimensionality reduction before expensive 3x3/5x5 convolutions.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  <a:latin typeface="Segoe UI"/>
              </a:defRPr>
            </a:pPr>
            <a:r>
              <a:t>- Modern Practice: </a:t>
            </a:r>
            <a:r>
              <a:rPr b="0" sz="1000">
                <a:solidFill>
                  <a:srgbClr val="CBD5E1"/>
                </a:solidFill>
              </a:rPr>
              <a:t>Our CNN applies these core design rules at a scale suited for MNIST.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69280"/>
            <a:ext cx="10698480" cy="777240"/>
          </a:xfrm>
          <a:prstGeom prst="roundRect">
            <a:avLst/>
          </a:prstGeom>
          <a:solidFill>
            <a:srgbClr val="18202F"/>
          </a:solidFill>
          <a:ln w="15240">
            <a:solidFill>
              <a:srgbClr val="2E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  <a:latin typeface="Segoe UI"/>
              </a:defRPr>
            </a:pPr>
            <a:r>
              <a:t>CONCLUSION: </a:t>
            </a:r>
            <a:r>
              <a:rPr b="0" sz="1100">
                <a:solidFill>
                  <a:srgbClr val="F8FAFC"/>
                </a:solidFill>
              </a:rPr>
              <a:t>Thank you, Doctor. The project successfully demonstrates the evolution from statistical machine learning to modern deep convolutional architectures. I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